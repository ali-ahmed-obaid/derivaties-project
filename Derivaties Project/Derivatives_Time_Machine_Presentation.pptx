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4c6b6ad2eb41ec" /><Relationship Type="http://schemas.openxmlformats.org/officeDocument/2006/relationships/extended-properties" Target="/docProps/app.xml" Id="R01deefad73bc44a3" /><Relationship Type="http://schemas.openxmlformats.org/officeDocument/2006/relationships/officeDocument" Target="/ppt/presentation.xml" Id="Rfb94b22caf944d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e48323c4fc4651"/>
  </p:sldMasterIdLst>
  <p:notesMasterIdLst>
    <p:notesMasterId xmlns:r="http://schemas.openxmlformats.org/officeDocument/2006/relationships" r:id="R91de1e6f6b364292"/>
  </p:notesMasterIdLst>
  <p:sldIdLst>
    <p:sldId xmlns:r="http://schemas.openxmlformats.org/officeDocument/2006/relationships" id="256" r:id="R53d4319ae6104b3f"/>
    <p:sldId xmlns:r="http://schemas.openxmlformats.org/officeDocument/2006/relationships" id="257" r:id="R3920a1e355d646e4"/>
    <p:sldId xmlns:r="http://schemas.openxmlformats.org/officeDocument/2006/relationships" id="258" r:id="R14e01df40bf049b0"/>
    <p:sldId xmlns:r="http://schemas.openxmlformats.org/officeDocument/2006/relationships" id="259" r:id="Rf335a56732ea4fac"/>
    <p:sldId xmlns:r="http://schemas.openxmlformats.org/officeDocument/2006/relationships" id="260" r:id="Rd18a36e925144239"/>
    <p:sldId xmlns:r="http://schemas.openxmlformats.org/officeDocument/2006/relationships" id="261" r:id="Rf33c7fd6cdd2409e"/>
    <p:sldId xmlns:r="http://schemas.openxmlformats.org/officeDocument/2006/relationships" id="262" r:id="Rb3c2bf7634344eac"/>
    <p:sldId xmlns:r="http://schemas.openxmlformats.org/officeDocument/2006/relationships" id="263" r:id="R16682bd0f5d544ea"/>
    <p:sldId xmlns:r="http://schemas.openxmlformats.org/officeDocument/2006/relationships" id="264" r:id="R0a9ba534320547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67e1708e384265" /><Relationship Type="http://schemas.openxmlformats.org/officeDocument/2006/relationships/slideMaster" Target="/ppt/slideMasters/slideMaster1.xml" Id="R8de48323c4fc4651" /><Relationship Type="http://schemas.openxmlformats.org/officeDocument/2006/relationships/notesMaster" Target="/ppt/notesMasters/notesMaster1.xml" Id="R91de1e6f6b364292" /><Relationship Type="http://schemas.openxmlformats.org/officeDocument/2006/relationships/presProps" Target="/ppt/presProps.xml" Id="R87b1f63718cc4b6c" /><Relationship Type="http://schemas.openxmlformats.org/officeDocument/2006/relationships/tableStyles" Target="/ppt/tableStyles.xml" Id="R409e171857a949cf" /><Relationship Type="http://schemas.openxmlformats.org/officeDocument/2006/relationships/slide" Target="/ppt/slides/slide1.xml" Id="R53d4319ae6104b3f" /><Relationship Type="http://schemas.openxmlformats.org/officeDocument/2006/relationships/slide" Target="/ppt/slides/slide2.xml" Id="R3920a1e355d646e4" /><Relationship Type="http://schemas.openxmlformats.org/officeDocument/2006/relationships/slide" Target="/ppt/slides/slide3.xml" Id="R14e01df40bf049b0" /><Relationship Type="http://schemas.openxmlformats.org/officeDocument/2006/relationships/slide" Target="/ppt/slides/slide4.xml" Id="Rf335a56732ea4fac" /><Relationship Type="http://schemas.openxmlformats.org/officeDocument/2006/relationships/slide" Target="/ppt/slides/slide5.xml" Id="Rd18a36e925144239" /><Relationship Type="http://schemas.openxmlformats.org/officeDocument/2006/relationships/slide" Target="/ppt/slides/slide6.xml" Id="Rf33c7fd6cdd2409e" /><Relationship Type="http://schemas.openxmlformats.org/officeDocument/2006/relationships/slide" Target="/ppt/slides/slide7.xml" Id="Rb3c2bf7634344eac" /><Relationship Type="http://schemas.openxmlformats.org/officeDocument/2006/relationships/slide" Target="/ppt/slides/slide8.xml" Id="R16682bd0f5d544ea" /><Relationship Type="http://schemas.openxmlformats.org/officeDocument/2006/relationships/slide" Target="/ppt/slides/slide9.xml" Id="R0a9ba534320547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24b8003c064e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a7ee8ca42f4cc9" /><Relationship Type="http://schemas.openxmlformats.org/officeDocument/2006/relationships/notesMaster" Target="/ppt/notesMasters/notesMaster1.xml" Id="R6a9d50f5d9f24c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a5e8416a964673" /><Relationship Type="http://schemas.openxmlformats.org/officeDocument/2006/relationships/notesMaster" Target="/ppt/notesMasters/notesMaster1.xml" Id="R508e7080af9443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90d089325a401b" /><Relationship Type="http://schemas.openxmlformats.org/officeDocument/2006/relationships/notesMaster" Target="/ppt/notesMasters/notesMaster1.xml" Id="R9bef41f87d1f4f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486e557ddc451a" /><Relationship Type="http://schemas.openxmlformats.org/officeDocument/2006/relationships/notesMaster" Target="/ppt/notesMasters/notesMaster1.xml" Id="R1d1ceb38362845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2abcd4382f4e74" /><Relationship Type="http://schemas.openxmlformats.org/officeDocument/2006/relationships/notesMaster" Target="/ppt/notesMasters/notesMaster1.xml" Id="Ra1f525dff6ec4a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0d087155c14c54" /><Relationship Type="http://schemas.openxmlformats.org/officeDocument/2006/relationships/notesMaster" Target="/ppt/notesMasters/notesMaster1.xml" Id="R14ee644d1b3244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a3f17242f6445e" /><Relationship Type="http://schemas.openxmlformats.org/officeDocument/2006/relationships/notesMaster" Target="/ppt/notesMasters/notesMaster1.xml" Id="R121f81ee3d8f4f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85d6380a1d4dc6" /><Relationship Type="http://schemas.openxmlformats.org/officeDocument/2006/relationships/notesMaster" Target="/ppt/notesMasters/notesMaster1.xml" Id="R02f86f1a766340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276ee6c10e4a3e" /><Relationship Type="http://schemas.openxmlformats.org/officeDocument/2006/relationships/notesMaster" Target="/ppt/notesMasters/notesMaster1.xml" Id="Rc0178f6660ef4c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test: lock the decision in 2023, then score it against data through June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https://www.eia.gov/dnav/pet/hist/RBRTED.htm</a:t>
            </a:r>
          </a:p>
          <a:p xmlns:a="http://schemas.openxmlformats.org/drawingml/2006/main">
            <a:r>
              <a:t>- https://www.eia.gov/dnav/pet/hist/EER_EPJK_PF4_RGC_DPGD.htm</a:t>
            </a:r>
          </a:p>
          <a:p xmlns:a="http://schemas.openxmlformats.org/drawingml/2006/main">
            <a:r>
              <a:t>- https://www.cboe.com/tradable_products/vix/vix_historical_data</a:t>
            </a:r>
          </a:p>
          <a:p xmlns:a="http://schemas.openxmlformats.org/drawingml/2006/main">
            <a:r>
              <a:t>- https://fred.stlouisfed.org/series/DGS1MO</a:t>
            </a:r>
          </a:p>
          <a:p xmlns:a="http://schemas.openxmlformats.org/drawingml/2006/main">
            <a:r>
              <a:t>- https://www.cmegroup.com/markets/energy/crude-oil/brent-crude-oil-last-day.contractSpecs.html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historical lock and forward audit are the core controls. The public model uses EIA spot prices, OVX and the one-month Treasury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https://www.eia.gov/dnav/pet/hist/RBRTED.htm</a:t>
            </a:r>
          </a:p>
          <a:p xmlns:a="http://schemas.openxmlformats.org/drawingml/2006/main">
            <a:r>
              <a:t>- https://www.eia.gov/dnav/pet/hist/EER_EPJK_PF4_RGC_DPGD.htm</a:t>
            </a:r>
          </a:p>
          <a:p xmlns:a="http://schemas.openxmlformats.org/drawingml/2006/main">
            <a:r>
              <a:t>- https://www.cboe.com/tradable_products/vix/vix_historical_data</a:t>
            </a:r>
          </a:p>
          <a:p xmlns:a="http://schemas.openxmlformats.org/drawingml/2006/main">
            <a:r>
              <a:t>- https://fred.stlouisfed.org/series/DGS1MO</a:t>
            </a:r>
          </a:p>
          <a:p xmlns:a="http://schemas.openxmlformats.org/drawingml/2006/main">
            <a:r>
              <a:t>- https://www.cmegroup.com/markets/energy/crude-oil/brent-crude-oil-last-day.contractSpecs.html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mix uses a 0.870x cross-hedge beta and no standalone calls. The economic objective is resilience, not a directional bet.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https://www.eia.gov/dnav/pet/hist/RBRTED.htm</a:t>
            </a:r>
          </a:p>
          <a:p xmlns:a="http://schemas.openxmlformats.org/drawingml/2006/main">
            <a:r>
              <a:t>- https://www.eia.gov/dnav/pet/hist/EER_EPJK_PF4_RGC_DPGD.htm</a:t>
            </a:r>
          </a:p>
          <a:p xmlns:a="http://schemas.openxmlformats.org/drawingml/2006/main">
            <a:r>
              <a:t>- https://www.cboe.com/tradable_products/vix/vix_historical_data</a:t>
            </a:r>
          </a:p>
          <a:p xmlns:a="http://schemas.openxmlformats.org/drawingml/2006/main">
            <a:r>
              <a:t>- https://fred.stlouisfed.org/series/DGS1MO</a:t>
            </a:r>
          </a:p>
          <a:p xmlns:a="http://schemas.openxmlformats.org/drawingml/2006/main">
            <a:r>
              <a:t>- https://www.cmegroup.com/markets/energy/crude-oil/brent-crude-oil-last-day.contractSpecs.html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Full-window totals: unhedged cost $856.28m; hybrid cost $859.30m; hybrid savings therefore negative $3.02m. Variance reduction is 7.54%.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https://www.eia.gov/dnav/pet/hist/RBRTED.htm</a:t>
            </a:r>
          </a:p>
          <a:p xmlns:a="http://schemas.openxmlformats.org/drawingml/2006/main">
            <a:r>
              <a:t>- https://www.eia.gov/dnav/pet/hist/EER_EPJK_PF4_RGC_DPGD.htm</a:t>
            </a:r>
          </a:p>
          <a:p xmlns:a="http://schemas.openxmlformats.org/drawingml/2006/main">
            <a:r>
              <a:t>- https://www.cboe.com/tradable_products/vix/vix_historical_data</a:t>
            </a:r>
          </a:p>
          <a:p xmlns:a="http://schemas.openxmlformats.org/drawingml/2006/main">
            <a:r>
              <a:t>- https://fred.stlouisfed.org/series/DGS1MO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Monthly savings equal unhedged cost less hybrid cost for a hypothetical 10m gallons per month. EIA described sharp petroleum price increases and Middle East disruptions during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https://www.eia.gov/dnav/pet/hist/RBRTED.htm</a:t>
            </a:r>
          </a:p>
          <a:p xmlns:a="http://schemas.openxmlformats.org/drawingml/2006/main">
            <a:r>
              <a:t>- https://www.eia.gov/dnav/pet/hist/EER_EPJK_PF4_RGC_DPGD.htm</a:t>
            </a:r>
          </a:p>
          <a:p xmlns:a="http://schemas.openxmlformats.org/drawingml/2006/main">
            <a:r>
              <a:t>- https://www.eia.gov/todayinenergy/detail.php?id=67424</a:t>
            </a:r>
          </a:p>
          <a:p xmlns:a="http://schemas.openxmlformats.org/drawingml/2006/main">
            <a:r>
              <a:t>- https://www.eia.gov/Todayinenergy/detail.php?id=67865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decision rule labels the recommendation partially correct when it reduces variance and protects the shock but does not save money across the entire audit.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https://www.eia.gov/dnav/pet/hist/RBRTED.htm</a:t>
            </a:r>
          </a:p>
          <a:p xmlns:a="http://schemas.openxmlformats.org/drawingml/2006/main">
            <a:r>
              <a:t>- https://www.eia.gov/dnav/pet/hist/EER_EPJK_PF4_RGC_DPGD.htm</a:t>
            </a:r>
          </a:p>
          <a:p xmlns:a="http://schemas.openxmlformats.org/drawingml/2006/main">
            <a:r>
              <a:t>- https://www.cboe.com/tradable_products/vix/vix_historical_data</a:t>
            </a:r>
          </a:p>
          <a:p xmlns:a="http://schemas.openxmlformats.org/drawingml/2006/main">
            <a:r>
              <a:t>- https://fred.stlouisfed.org/series/DGS1MO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common public observation used by the model is 27 July 2026. Values are Brent $91.82/bbl, jet fuel $3.582/gal, OVX 60.62% and one-month Treasury 3.80%.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https://www.eia.gov/dnav/pet/hist/RBRTED.htm</a:t>
            </a:r>
          </a:p>
          <a:p xmlns:a="http://schemas.openxmlformats.org/drawingml/2006/main">
            <a:r>
              <a:t>- https://www.eia.gov/dnav/pet/hist/EER_EPJK_PF4_RGC_DPGD.htm</a:t>
            </a:r>
          </a:p>
          <a:p xmlns:a="http://schemas.openxmlformats.org/drawingml/2006/main">
            <a:r>
              <a:t>- https://www.cboe.com/tradable_products/vix/vix_historical_data</a:t>
            </a:r>
          </a:p>
          <a:p xmlns:a="http://schemas.openxmlformats.org/drawingml/2006/main">
            <a:r>
              <a:t>- https://fred.stlouisfed.org/series/DGS1MO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Contract count assumes the CME Brent contract size of 1,000 barrels and applies the current 1.095x cross-hedge beta. The ticket is illustrative and excludes margin, tax, credit and airline-specific execution effects.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https://www.cmegroup.com/markets/energy/crude-oil/brent-crude-oil-last-day.contractSpecs.html</a:t>
            </a:r>
          </a:p>
          <a:p xmlns:a="http://schemas.openxmlformats.org/drawingml/2006/main">
            <a:r>
              <a:t>- https://www.eia.gov/dnav/pet/hist/RBRTED.htm</a:t>
            </a:r>
          </a:p>
          <a:p xmlns:a="http://schemas.openxmlformats.org/drawingml/2006/main">
            <a:r>
              <a:t>- https://www.eia.gov/dnav/pet/hist/EER_EPJK_PF4_RGC_DPGD.htm</a:t>
            </a:r>
          </a:p>
          <a:p xmlns:a="http://schemas.openxmlformats.org/drawingml/2006/main">
            <a:r>
              <a:t>- https://www.cboe.com/tradable_products/vix/vix_historical_data</a:t>
            </a:r>
          </a:p>
          <a:p xmlns:a="http://schemas.openxmlformats.org/drawingml/2006/main">
            <a:r>
              <a:t>- https://fred.stlouisfed.org/series/DGS1MO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governance lesson: use derivatives to define survivable outcomes, then keep the policy honest with pre-agreed metrics and regular re-estimation.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https://www.cmegroup.com/markets/energy/crude-oil/brent-crude-oil-last-day.contractSpecs.html</a:t>
            </a:r>
          </a:p>
          <a:p xmlns:a="http://schemas.openxmlformats.org/drawingml/2006/main">
            <a:r>
              <a:t>- https://www.eia.gov/dnav/pet/hist/RBRTED.htm</a:t>
            </a:r>
          </a:p>
          <a:p xmlns:a="http://schemas.openxmlformats.org/drawingml/2006/main">
            <a:r>
              <a:t>- https://www.eia.gov/dnav/pet/hist/EER_EPJK_PF4_RGC_DPGD.htm</a:t>
            </a:r>
          </a:p>
          <a:p xmlns:a="http://schemas.openxmlformats.org/drawingml/2006/main">
            <a:r>
              <a:t>- https://www.cboe.com/tradable_products/vix/vix_historical_data</a:t>
            </a:r>
          </a:p>
          <a:p xmlns:a="http://schemas.openxmlformats.org/drawingml/2006/main">
            <a:r>
              <a:t>- https://fred.stlouisfed.org/series/DGS1MO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983407a6c041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0806daa5294f03" /><Relationship Type="http://schemas.openxmlformats.org/officeDocument/2006/relationships/slideLayout" Target="/ppt/slideLayouts/slideLayout1.xml" Id="R13976674aae84a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976674aae84a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1d41d6ce14922" /><Relationship Type="http://schemas.openxmlformats.org/officeDocument/2006/relationships/notesSlide" Target="/ppt/notesSlides/notesSlide1.xml" Id="R03b1174079fb43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a3d74a12d4edc" /><Relationship Type="http://schemas.openxmlformats.org/officeDocument/2006/relationships/notesSlide" Target="/ppt/notesSlides/notesSlide2.xml" Id="Rc6a24613794c4e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9c0e10db34d90" /><Relationship Type="http://schemas.openxmlformats.org/officeDocument/2006/relationships/notesSlide" Target="/ppt/notesSlides/notesSlide3.xml" Id="Rb4e486936de540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d04cb9e904d1b" /><Relationship Type="http://schemas.openxmlformats.org/officeDocument/2006/relationships/chart" Target="/ppt/slides/charts/chart1.xml" Id="R04433a6b7401487b" /><Relationship Type="http://schemas.openxmlformats.org/officeDocument/2006/relationships/notesSlide" Target="/ppt/notesSlides/notesSlide4.xml" Id="Rf0e535d60c2a49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44fafc6d0446c" /><Relationship Type="http://schemas.openxmlformats.org/officeDocument/2006/relationships/chart" Target="/ppt/slides/charts/chart2.xml" Id="R2fc4095f8cdc4de2" /><Relationship Type="http://schemas.openxmlformats.org/officeDocument/2006/relationships/notesSlide" Target="/ppt/notesSlides/notesSlide5.xml" Id="R16fa6a0c40c847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73bfbbe9a4ac8" /><Relationship Type="http://schemas.openxmlformats.org/officeDocument/2006/relationships/notesSlide" Target="/ppt/notesSlides/notesSlide6.xml" Id="R8b0eb198ffb849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8a629a5ee410b" /><Relationship Type="http://schemas.openxmlformats.org/officeDocument/2006/relationships/notesSlide" Target="/ppt/notesSlides/notesSlide7.xml" Id="R52336a54dc1d42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e3f0b96c64b15" /><Relationship Type="http://schemas.openxmlformats.org/officeDocument/2006/relationships/notesSlide" Target="/ppt/notesSlides/notesSlide8.xml" Id="Rb7a877d7aad944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9f196fe8a42f7" /><Relationship Type="http://schemas.openxmlformats.org/officeDocument/2006/relationships/notesSlide" Target="/ppt/notesSlides/notesSlide9.xml" Id="R7780ad7d7df94519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Unhedged</c:v>
          </c:tx>
          <c:spPr>
            <a:ln xmlns:a="http://schemas.openxmlformats.org/drawingml/2006/main" w="28575">
              <a:solidFill>
                <a:srgbClr val="09233D"/>
              </a:solidFill>
              <a:prstDash val="solid"/>
            </a:ln>
          </c:spPr>
          <c:marker>
            <c:symbol val="circle"/>
            <c:size val="4"/>
          </c:marker>
          <c:cat>
            <c:strLit>
              <c:ptCount val="12"/>
              <c:pt idx="0">
                <c:v>’23 Q3</c:v>
              </c:pt>
              <c:pt idx="1">
                <c:v>’23 Q4</c:v>
              </c:pt>
              <c:pt idx="2">
                <c:v>’24 Q1</c:v>
              </c:pt>
              <c:pt idx="3">
                <c:v>’24 Q2</c:v>
              </c:pt>
              <c:pt idx="4">
                <c:v>’24 Q3</c:v>
              </c:pt>
              <c:pt idx="5">
                <c:v>’24 Q4</c:v>
              </c:pt>
              <c:pt idx="6">
                <c:v>’25 Q1</c:v>
              </c:pt>
              <c:pt idx="7">
                <c:v>’25 Q2</c:v>
              </c:pt>
              <c:pt idx="8">
                <c:v>’25 Q3</c:v>
              </c:pt>
              <c:pt idx="9">
                <c:v>’25 Q4</c:v>
              </c:pt>
              <c:pt idx="10">
                <c:v>’26 Q1</c:v>
              </c:pt>
              <c:pt idx="11">
                <c:v>’26 Q2</c:v>
              </c:pt>
            </c:strLit>
          </c:cat>
          <c:val>
            <c:numLit>
              <c:formatCode>General</c:formatCode>
              <c:ptCount val="12"/>
              <c:pt idx="0">
                <c:v>3.084</c:v>
              </c:pt>
              <c:pt idx="1">
                <c:v>2.57</c:v>
              </c:pt>
              <c:pt idx="2">
                <c:v>2.593</c:v>
              </c:pt>
              <c:pt idx="3">
                <c:v>2.409</c:v>
              </c:pt>
              <c:pt idx="4">
                <c:v>2.125</c:v>
              </c:pt>
              <c:pt idx="5">
                <c:v>2.115</c:v>
              </c:pt>
              <c:pt idx="6">
                <c:v>2.194</c:v>
              </c:pt>
              <c:pt idx="7">
                <c:v>1.977</c:v>
              </c:pt>
              <c:pt idx="8">
                <c:v>2.081</c:v>
              </c:pt>
              <c:pt idx="9">
                <c:v>2.069</c:v>
              </c:pt>
              <c:pt idx="10">
                <c:v>2.89</c:v>
              </c:pt>
              <c:pt idx="11">
                <c:v>3.464</c:v>
              </c:pt>
            </c:numLit>
          </c:val>
        </c:ser>
        <c:ser>
          <c:idx val="1"/>
          <c:order val="1"/>
          <c:tx>
            <c:v>Hybrid</c:v>
          </c:tx>
          <c:spPr>
            <a:ln xmlns:a="http://schemas.openxmlformats.org/drawingml/2006/main" w="28575">
              <a:solidFill>
                <a:srgbClr val="0057B8"/>
              </a:solidFill>
              <a:prstDash val="solid"/>
            </a:ln>
          </c:spPr>
          <c:marker>
            <c:symbol val="circle"/>
            <c:size val="4"/>
          </c:marker>
          <c:cat>
            <c:strLit>
              <c:ptCount val="12"/>
              <c:pt idx="0">
                <c:v>’23 Q3</c:v>
              </c:pt>
              <c:pt idx="1">
                <c:v>’23 Q4</c:v>
              </c:pt>
              <c:pt idx="2">
                <c:v>’24 Q1</c:v>
              </c:pt>
              <c:pt idx="3">
                <c:v>’24 Q2</c:v>
              </c:pt>
              <c:pt idx="4">
                <c:v>’24 Q3</c:v>
              </c:pt>
              <c:pt idx="5">
                <c:v>’24 Q4</c:v>
              </c:pt>
              <c:pt idx="6">
                <c:v>’25 Q1</c:v>
              </c:pt>
              <c:pt idx="7">
                <c:v>’25 Q2</c:v>
              </c:pt>
              <c:pt idx="8">
                <c:v>’25 Q3</c:v>
              </c:pt>
              <c:pt idx="9">
                <c:v>’25 Q4</c:v>
              </c:pt>
              <c:pt idx="10">
                <c:v>’26 Q1</c:v>
              </c:pt>
              <c:pt idx="11">
                <c:v>’26 Q2</c:v>
              </c:pt>
            </c:strLit>
          </c:cat>
          <c:val>
            <c:numLit>
              <c:formatCode>General</c:formatCode>
              <c:ptCount val="12"/>
              <c:pt idx="0">
                <c:v>3.032</c:v>
              </c:pt>
              <c:pt idx="1">
                <c:v>2.64</c:v>
              </c:pt>
              <c:pt idx="2">
                <c:v>2.571</c:v>
              </c:pt>
              <c:pt idx="3">
                <c:v>2.414</c:v>
              </c:pt>
              <c:pt idx="4">
                <c:v>2.185</c:v>
              </c:pt>
              <c:pt idx="5">
                <c:v>2.112</c:v>
              </c:pt>
              <c:pt idx="6">
                <c:v>2.19</c:v>
              </c:pt>
              <c:pt idx="7">
                <c:v>2.027</c:v>
              </c:pt>
              <c:pt idx="8">
                <c:v>2.085</c:v>
              </c:pt>
              <c:pt idx="9">
                <c:v>2.092</c:v>
              </c:pt>
              <c:pt idx="10">
                <c:v>2.59</c:v>
              </c:pt>
              <c:pt idx="11">
                <c:v>3.717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.5"/>
          <c:min val="1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Hybrid savings ($m)</c:v>
          </c:tx>
          <c:spPr>
            <a:solidFill xmlns:a="http://schemas.openxmlformats.org/drawingml/2006/main">
              <a:srgbClr val="0057B8"/>
            </a:solidFill>
          </c:spPr>
          <c:invertIfNegative val="0"/>
          <c:cat>
            <c:strLit>
              <c:ptCount val="6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</c:strLit>
          </c:cat>
          <c:val>
            <c:numLit>
              <c:formatCode>General</c:formatCode>
              <c:ptCount val="6"/>
              <c:pt idx="0">
                <c:v>1.353</c:v>
              </c:pt>
              <c:pt idx="1">
                <c:v>-0.103</c:v>
              </c:pt>
              <c:pt idx="2">
                <c:v>7.764</c:v>
              </c:pt>
              <c:pt idx="3">
                <c:v>-0.244</c:v>
              </c:pt>
              <c:pt idx="4">
                <c:v>-4.292</c:v>
              </c:pt>
              <c:pt idx="5">
                <c:v>-3.059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"/>
          <c:min val="-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3-1">
            <a:extLst xmlns:a="http://schemas.openxmlformats.org/drawingml/2006/main">
              <a:ext uri="{FF2B5EF4-FFF2-40B4-BE49-F238E27FC236}">
                <a16:creationId xmlns:a16="http://schemas.microsoft.com/office/drawing/2014/main" id="{5734F543-2765-43C9-8869-9ECE43B6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9233D"/>
                </a:solidFill>
                <a:latin typeface="Arial"/>
                <a:ea typeface="Arial"/>
                <a:cs typeface="Arial"/>
              </a:rPr>
              <a:t>The Derivatives
</a:t>
            </a:r>
            <a:r>
              <a:rPr sz="600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Time Machine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4229A3C-62EB-4EBB-805A-57B08194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Could a Gulf airline’s 2023 jet-fuel hedge protect it from the 2026 oil shock?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C9AB42D-6052-42D2-A7C2-E3BB61AC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A NO-HINDSIGHT DERIVATIVES AUDIT</a:t>
            </a:r>
          </a:p>
        </p:txBody>
      </p:sp>
      <p:sp>
        <p:nvSpPr>
          <p:cNvPr id="4" name="endcap-navy">
            <a:extLst xmlns:a="http://schemas.openxmlformats.org/drawingml/2006/main">
              <a:ext uri="{FF2B5EF4-FFF2-40B4-BE49-F238E27FC236}">
                <a16:creationId xmlns:a16="http://schemas.microsoft.com/office/drawing/2014/main" id="{2A8DC360-8165-4BE8-8AFA-5F7AC29F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ndcap-amber">
            <a:extLst xmlns:a="http://schemas.openxmlformats.org/drawingml/2006/main">
              <a:ext uri="{FF2B5EF4-FFF2-40B4-BE49-F238E27FC236}">
                <a16:creationId xmlns:a16="http://schemas.microsoft.com/office/drawing/2014/main" id="{A9395A19-27D0-4E21-8498-93C94A12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verdict-tag">
            <a:extLst xmlns:a="http://schemas.openxmlformats.org/drawingml/2006/main">
              <a:ext uri="{FF2B5EF4-FFF2-40B4-BE49-F238E27FC236}">
                <a16:creationId xmlns:a16="http://schemas.microsoft.com/office/drawing/2014/main" id="{27F28DAE-F4B9-46D6-B1E5-FBDC4C1F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41020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PARTIALLY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CORRECT</a:t>
            </a:r>
          </a:p>
        </p:txBody>
      </p:sp>
    </p:spTree>
    <p:extLst>
      <p:ext uri="{BB962C8B-B14F-4D97-AF65-F5344CB8AC3E}">
        <p14:creationId xmlns:p14="http://schemas.microsoft.com/office/powerpoint/2010/main" val="10003875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50B19C4-C9EB-49F4-AA13-11E97266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80D142D-3342-40B5-817F-863BB64C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9233D"/>
                </a:solidFill>
                <a:latin typeface="Arial"/>
                <a:ea typeface="Arial"/>
                <a:cs typeface="Arial"/>
              </a:rPr>
              <a:t>The time machine prevents hindsight bias</a:t>
            </a:r>
          </a:p>
        </p:txBody>
      </p:sp>
      <p:cxnSp>
        <p:nvCxnSpPr>
          <p:cNvPr id="17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46506FC-5FFD-4D51-8D39-F694D5D1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D4B061A-059D-459C-91A6-09D18433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1406E73-8736-4F1F-87DC-F41E218E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48C9AA20-F847-422D-A6C9-3C6FFB16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31 JUL 2023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5DF9B74E-873E-48F6-BD51-F46702AA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AUG 2023–JUN 2026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651BF00-AD6C-46F3-A313-5CCD5E83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27 JUL 2026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F2091EBF-B666-4F2C-B9A2-D7CF0000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Audit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55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Roll the hedge monthly across 35 realized periods and measure cost, variance and tail risk.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74642EA4-D744-4CB0-85CC-DA0746A3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Lock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55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Freeze beta, hedge constraints and the decision rule using only information then available.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FBF86D4F-D995-4BFB-AA7E-A61218FD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Refresh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55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Update the market snapshot and translate the same policy into an actionable ticket.</a:t>
            </a:r>
          </a:p>
        </p:txBody>
      </p:sp>
      <p:sp>
        <p:nvSpPr>
          <p:cNvPr id="1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680AFC2F-D8BA-4A2E-A222-600A9087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342900"/>
            <a:ext cx="76200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450CDCA-2DCD-4BC0-ACB4-3D6310C3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57B8"/>
                </a:solidFill>
              </a:defRPr>
            </a:pPr>
            <a:r>
              <a:rPr sz="900" b="1">
                <a:solidFill>
                  <a:srgbClr val="0057B8"/>
                </a:solidFill>
              </a:rPr>
              <a:t>RESEARCH DESIGN</a:t>
            </a:r>
          </a:p>
        </p:txBody>
      </p:sp>
    </p:spTree>
    <p:extLst>
      <p:ext uri="{BB962C8B-B14F-4D97-AF65-F5344CB8AC3E}">
        <p14:creationId xmlns:p14="http://schemas.microsoft.com/office/powerpoint/2010/main" val="5098311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DD35E79A-0443-4D8B-9517-1BFA311F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8C34DE05-FE84-411F-80D9-3A40732D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5E03832B-7AEB-41F0-9DFB-159E53E2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66A46D34-2D93-4AF7-BB55-C4851EFA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2FE2EF60-7C7A-443E-896B-3D5FB9C7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9233D"/>
                </a:solidFill>
                <a:latin typeface="Arial"/>
                <a:ea typeface="Arial"/>
                <a:cs typeface="Arial"/>
              </a:rPr>
              <a:t>The 2023 policy mix was deliberately imperfect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EF0484C-82E9-4BD9-B592-52960742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long Brent
futures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6BB3F5B-8541-4E9B-B5AE-B57AFA3C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left
unhedged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98DB53E-4A48-4268-B257-EC8946C1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zero-cost
collars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1B9C4C27-4087-4556-AEC7-EA6F7348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98D7F86-31DB-423A-8287-023CF436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78C82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30A2AA69-55D7-4A31-BCD4-C011E48C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17000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025B6009-5557-4F55-A2AC-540210DF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LOCKED POLICY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500"/>
              </a:spcBef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constrained optimizer selected the lowest-risk mix available under governance rules: futures capped at 40%, at least 30% options, and meaningful open exposure.</a:t>
            </a:r>
          </a:p>
        </p:txBody>
      </p:sp>
      <p:sp>
        <p:nvSpPr>
          <p:cNvPr id="1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C875D1C1-D520-4CED-9DB1-C95D7596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342900"/>
            <a:ext cx="76200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7B3C5DA-6F5E-4E46-BBEB-4C293DDC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57B8"/>
                </a:solidFill>
              </a:defRPr>
            </a:pPr>
            <a:r>
              <a:rPr sz="900" b="1">
                <a:solidFill>
                  <a:srgbClr val="0057B8"/>
                </a:solidFill>
              </a:rPr>
              <a:t>LOCKED DECISION</a:t>
            </a:r>
          </a:p>
        </p:txBody>
      </p:sp>
    </p:spTree>
    <p:extLst>
      <p:ext uri="{BB962C8B-B14F-4D97-AF65-F5344CB8AC3E}">
        <p14:creationId xmlns:p14="http://schemas.microsoft.com/office/powerpoint/2010/main" val="20317477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888D424-7225-42C9-99F4-193045A8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E11A545-E7C4-44C2-BB39-4E9D16DF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9233D"/>
                </a:solidFill>
                <a:latin typeface="Arial"/>
                <a:ea typeface="Arial"/>
                <a:cs typeface="Arial"/>
              </a:rPr>
              <a:t>Across 35 months, stability cost $3.02m</a:t>
            </a:r>
          </a:p>
        </p:txBody>
      </p:sp>
      <p:sp>
        <p:nvSpPr>
          <p:cNvPr id="3" name="Rounded-Rectangle-36-4">
            <a:extLst xmlns:a="http://schemas.openxmlformats.org/drawingml/2006/main">
              <a:ext uri="{FF2B5EF4-FFF2-40B4-BE49-F238E27FC236}">
                <a16:creationId xmlns:a16="http://schemas.microsoft.com/office/drawing/2014/main" id="{BB45696A-E352-4E70-A3D8-E4E05D2E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9-5">
            <a:extLst xmlns:a="http://schemas.openxmlformats.org/drawingml/2006/main">
              <a:ext uri="{FF2B5EF4-FFF2-40B4-BE49-F238E27FC236}">
                <a16:creationId xmlns:a16="http://schemas.microsoft.com/office/drawing/2014/main" id="{ED35511C-B8CC-44E6-92D9-DEBDD052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B93A32"/>
                </a:solidFill>
                <a:latin typeface="Arial"/>
                <a:ea typeface="Arial"/>
                <a:cs typeface="Arial"/>
              </a:rPr>
              <a:t>−$3.02m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D3671EAA-7E30-40CC-BECD-8E9CB80E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full-window savings
vs unhedged</a:t>
            </a:r>
          </a:p>
        </p:txBody>
      </p:sp>
      <p:sp>
        <p:nvSpPr>
          <p:cNvPr id="6" name="Rounded-Rectangle-39-7">
            <a:extLst xmlns:a="http://schemas.openxmlformats.org/drawingml/2006/main">
              <a:ext uri="{FF2B5EF4-FFF2-40B4-BE49-F238E27FC236}">
                <a16:creationId xmlns:a16="http://schemas.microsoft.com/office/drawing/2014/main" id="{85B12C1B-6111-4620-A50E-132DAC81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9-8">
            <a:extLst xmlns:a="http://schemas.openxmlformats.org/drawingml/2006/main">
              <a:ext uri="{FF2B5EF4-FFF2-40B4-BE49-F238E27FC236}">
                <a16:creationId xmlns:a16="http://schemas.microsoft.com/office/drawing/2014/main" id="{67FE14DB-5FA2-41DE-B095-9EFDAF4F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7.54%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8ACA432-A6FA-4CF8-95DB-AF1B7E81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variance
reduction</a:t>
            </a:r>
          </a:p>
        </p:txBody>
      </p:sp>
      <p:sp>
        <p:nvSpPr>
          <p:cNvPr id="9" name="Content-Placeholder-2-10">
            <a:extLst xmlns:a="http://schemas.openxmlformats.org/drawingml/2006/main">
              <a:ext uri="{FF2B5EF4-FFF2-40B4-BE49-F238E27FC236}">
                <a16:creationId xmlns:a16="http://schemas.microsoft.com/office/drawing/2014/main" id="{0E7C9819-602B-48AA-A726-562D0C0E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955578"/>
            <a:ext cx="553983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Quarterly average fuel cost shows the hybrid tracking the physical exposure closely. It reduced risk, but friction and option economics outweighed realized gains over the full audit.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385858" y="1254728"/>
          <a:ext xmlns:a="http://schemas.openxmlformats.org/drawingml/2006/main" cx="5534216" cy="502453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433a6b7401487b"/>
          </a:graphicData>
        </a:graphic>
      </p:graphicFrame>
      <p:sp>
        <p:nvSpPr>
          <p:cNvPr id="1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35BA986A-EAA3-4035-8DFE-BF154CE1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342900"/>
            <a:ext cx="76200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6034AB5-AA44-48CF-827E-FCAF407A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57B8"/>
                </a:solidFill>
              </a:defRPr>
            </a:pPr>
            <a:r>
              <a:rPr sz="900" b="1">
                <a:solidFill>
                  <a:srgbClr val="0057B8"/>
                </a:solidFill>
              </a:rPr>
              <a:t>FULL AUDIT</a:t>
            </a:r>
          </a:p>
        </p:txBody>
      </p:sp>
    </p:spTree>
    <p:extLst>
      <p:ext uri="{BB962C8B-B14F-4D97-AF65-F5344CB8AC3E}">
        <p14:creationId xmlns:p14="http://schemas.microsoft.com/office/powerpoint/2010/main" val="17166402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1C1105B-4D82-41D4-B56C-A76879A2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1741A95-A048-4CE9-ADFC-5861167E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9233D"/>
                </a:solidFill>
                <a:latin typeface="Arial"/>
                <a:ea typeface="Arial"/>
                <a:cs typeface="Arial"/>
              </a:rPr>
              <a:t>During the 2026 shock, protection arrived on cue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EE67F080-1688-413D-8050-25E64030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A7D5A"/>
                </a:solidFill>
                <a:latin typeface="Arial"/>
                <a:ea typeface="Arial"/>
                <a:cs typeface="Arial"/>
              </a:rPr>
              <a:t>+$7.76m</a:t>
            </a:r>
          </a:p>
        </p:txBody>
      </p:sp>
      <p:sp>
        <p:nvSpPr>
          <p:cNvPr id="4" name="Content-Placeholder-15-5">
            <a:extLst xmlns:a="http://schemas.openxmlformats.org/drawingml/2006/main">
              <a:ext uri="{FF2B5EF4-FFF2-40B4-BE49-F238E27FC236}">
                <a16:creationId xmlns:a16="http://schemas.microsoft.com/office/drawing/2014/main" id="{2B892EED-1F38-45FD-A67F-09732094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March peak
protection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4F6B847-F34B-4D28-A156-D005373D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B93A32"/>
                </a:solidFill>
                <a:latin typeface="Arial"/>
                <a:ea typeface="Arial"/>
                <a:cs typeface="Arial"/>
              </a:rPr>
              <a:t>−$4.29m</a:t>
            </a:r>
          </a:p>
        </p:txBody>
      </p:sp>
      <p:sp>
        <p:nvSpPr>
          <p:cNvPr id="6" name="Content-Placeholder-15-7">
            <a:extLst xmlns:a="http://schemas.openxmlformats.org/drawingml/2006/main">
              <a:ext uri="{FF2B5EF4-FFF2-40B4-BE49-F238E27FC236}">
                <a16:creationId xmlns:a16="http://schemas.microsoft.com/office/drawing/2014/main" id="{15998A40-FD79-4E29-84E1-F48DC01B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May largest
trade-off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01B8FE5C-844E-4421-8A97-82E2BDE5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668">
            <a:solidFill>
              <a:srgbClr val="000000"/>
            </a:solidFill>
            <a:prstDash val="solid"/>
          </a:ln>
        </p:spPr>
      </p:sp>
      <p:sp>
        <p:nvSpPr>
          <p:cNvPr id="8" name="Content-Placeholder-1-9">
            <a:extLst xmlns:a="http://schemas.openxmlformats.org/drawingml/2006/main">
              <a:ext uri="{FF2B5EF4-FFF2-40B4-BE49-F238E27FC236}">
                <a16:creationId xmlns:a16="http://schemas.microsoft.com/office/drawing/2014/main" id="{D0F5430A-D0DA-4A1B-B36C-F6495BB1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A7D5A"/>
                </a:solidFill>
                <a:latin typeface="Arial"/>
                <a:ea typeface="Arial"/>
                <a:cs typeface="Arial"/>
              </a:rPr>
              <a:t>Shock verdict: passed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6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January–June savings were +$1.42m. March protection was substantial; the hedge then gave some value back as the price path reversed.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c4095f8cdc4de2"/>
          </a:graphicData>
        </a:graphic>
      </p:graphicFrame>
      <p:sp>
        <p:nvSpPr>
          <p:cNvPr id="10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AB5FD3C-D919-48D4-BF48-C8EA81D6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342900"/>
            <a:ext cx="76200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FA5F4DD-512C-4D29-8BFC-2FFC651E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57B8"/>
                </a:solidFill>
              </a:defRPr>
            </a:pPr>
            <a:r>
              <a:rPr sz="900" b="1">
                <a:solidFill>
                  <a:srgbClr val="0057B8"/>
                </a:solidFill>
              </a:rPr>
              <a:t>STRESS EPISODE</a:t>
            </a:r>
          </a:p>
        </p:txBody>
      </p:sp>
    </p:spTree>
    <p:extLst>
      <p:ext uri="{BB962C8B-B14F-4D97-AF65-F5344CB8AC3E}">
        <p14:creationId xmlns:p14="http://schemas.microsoft.com/office/powerpoint/2010/main" val="465155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3570BBEE-B5A5-46A4-990D-BC617A44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98059D1D-FF1F-431B-99A4-0787E60B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9233D"/>
                </a:solidFill>
                <a:latin typeface="Arial"/>
                <a:ea typeface="Arial"/>
                <a:cs typeface="Arial"/>
              </a:rPr>
              <a:t>The original advice was partially correct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45E9E7D-7708-4154-89A5-530ADCF4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A7D5A"/>
                </a:solidFill>
                <a:latin typeface="Arial"/>
                <a:ea typeface="Arial"/>
                <a:cs typeface="Arial"/>
              </a:rPr>
              <a:t>What was right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55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hybrid saved $1.42m during the January–June 2026 shock.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104609F-DACF-486D-ACA7-40174716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Tail risk improved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55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Full-window CVaR95 fell by $0.137 per gallon; variance fell 7.54%.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668315C-F643-4D11-9DB3-009734AF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93A32"/>
                </a:solidFill>
                <a:latin typeface="Arial"/>
                <a:ea typeface="Arial"/>
                <a:cs typeface="Arial"/>
              </a:rPr>
              <a:t>What was wrong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55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Across all 35 months, the insurance policy cost $3.02m versus staying open.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AE2E1D6-87FF-419C-97F2-928B8B38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E17000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55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Judge a hedge against a resilience objective fixed in advance—not hindsight profit.</a:t>
            </a:r>
          </a:p>
        </p:txBody>
      </p:sp>
      <p:sp>
        <p:nvSpPr>
          <p:cNvPr id="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86CCBC41-3C1F-42AF-A971-84131DA1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342900"/>
            <a:ext cx="76200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A265B10-4088-4453-A0EC-AC1D0A13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57B8"/>
                </a:solidFill>
              </a:defRPr>
            </a:pPr>
            <a:r>
              <a:rPr sz="900" b="1">
                <a:solidFill>
                  <a:srgbClr val="0057B8"/>
                </a:solidFill>
              </a:rPr>
              <a:t>JUDGMENT</a:t>
            </a:r>
          </a:p>
        </p:txBody>
      </p:sp>
    </p:spTree>
    <p:extLst>
      <p:ext uri="{BB962C8B-B14F-4D97-AF65-F5344CB8AC3E}">
        <p14:creationId xmlns:p14="http://schemas.microsoft.com/office/powerpoint/2010/main" val="492337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4EB81835-D848-44A1-82B3-1928A13C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E04EB0E0-8F7D-44AC-8009-40E47EB9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9233D"/>
                </a:solidFill>
                <a:latin typeface="Arial"/>
                <a:ea typeface="Arial"/>
                <a:cs typeface="Arial"/>
              </a:rPr>
              <a:t>The market reset still argues for measured protection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91F23600-0E10-427F-8FA7-C2D12407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Brent · $91.82/bbl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55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Synthetic one-month future: $92.12 per barrel.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E1A9058-3223-4CF9-AC48-E21BDCBA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E17000"/>
                </a:solidFill>
                <a:latin typeface="Arial"/>
                <a:ea typeface="Arial"/>
                <a:cs typeface="Arial"/>
              </a:rPr>
              <a:t>Jet fuel · $3.582/gal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55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Physical exposure remains elevated versus much of the audit window.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2B0885A-25EB-4421-9974-DD680F5C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93A32"/>
                </a:solidFill>
                <a:latin typeface="Arial"/>
                <a:ea typeface="Arial"/>
                <a:cs typeface="Arial"/>
              </a:rPr>
              <a:t>OVX · 60.62%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55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High implied volatility makes standalone option protection expensive.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C13A691-F2C7-4D71-A8A0-B5F04F1F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8C82"/>
                </a:solidFill>
                <a:latin typeface="Arial"/>
                <a:ea typeface="Arial"/>
                <a:cs typeface="Arial"/>
              </a:rPr>
              <a:t>Beta · 1.095x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55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One-month Treasury rate: 3.80%; current cross-hedge relationship is stronger.</a:t>
            </a:r>
          </a:p>
        </p:txBody>
      </p:sp>
      <p:sp>
        <p:nvSpPr>
          <p:cNvPr id="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4112DDB7-23D1-43AC-A3E7-CEBDDDF8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342900"/>
            <a:ext cx="76200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483F712-69DA-45E4-8F10-B56C0BA5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57B8"/>
                </a:solidFill>
              </a:defRPr>
            </a:pPr>
            <a:r>
              <a:rPr sz="900" b="1">
                <a:solidFill>
                  <a:srgbClr val="0057B8"/>
                </a:solidFill>
              </a:rPr>
              <a:t>CURRENT SNAPSHOT</a:t>
            </a:r>
          </a:p>
        </p:txBody>
      </p:sp>
    </p:spTree>
    <p:extLst>
      <p:ext uri="{BB962C8B-B14F-4D97-AF65-F5344CB8AC3E}">
        <p14:creationId xmlns:p14="http://schemas.microsoft.com/office/powerpoint/2010/main" val="5343956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4CF7D4B3-2230-42E9-8D73-809A203D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0FACCB55-5E43-46CA-BC04-14CC795B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B13528B2-5A2C-4254-B3D8-1D794003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BC217A6A-043C-417D-84A7-EF523818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EE6FE0B9-3F8D-4C27-8AC8-F26A6327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9233D"/>
                </a:solidFill>
                <a:latin typeface="Arial"/>
                <a:ea typeface="Arial"/>
                <a:cs typeface="Arial"/>
              </a:rPr>
              <a:t>Current ticket: hedge 70%, keep 30% flexibility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12CD7DF-4EE2-4220-8BD1-C3867447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long Brent
futures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A03F11A-EB30-44C7-9823-A5CC4D1A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volume left
unhedged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1ACAD7A4-9F1E-43C1-B3D3-8FE0861A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zero-cost
collars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E2CA1E97-DC9C-46CE-9798-B5616C1B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104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93517405-A7DB-487A-B979-D924E302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78C82"/>
                </a:solidFill>
                <a:latin typeface="Arial"/>
                <a:ea typeface="Arial"/>
                <a:cs typeface="Arial"/>
              </a:rPr>
              <a:t>78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F6AB09C7-E2F0-4E25-8EF5-56490DE7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E17000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295208BF-B161-4843-B215-DD558BCD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A7D5A"/>
                </a:solidFill>
                <a:latin typeface="Arial"/>
                <a:ea typeface="Arial"/>
                <a:cs typeface="Arial"/>
              </a:rPr>
              <a:t>ACTION · HEDGE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500"/>
              </a:spcBef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For 10m gallons/month: buy futures near $92.12/bbl; buy collar calls at $96.72 and sell puts at $88.24. Roll monthly and re-estimate beta before execution.</a:t>
            </a:r>
          </a:p>
        </p:txBody>
      </p:sp>
      <p:sp>
        <p:nvSpPr>
          <p:cNvPr id="1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04136E06-ED38-4AFB-AB44-1F45CC6B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342900"/>
            <a:ext cx="76200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0946AF2-3F3E-422C-BC98-283D83BB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57B8"/>
                </a:solidFill>
              </a:defRPr>
            </a:pPr>
            <a:r>
              <a:rPr sz="900" b="1">
                <a:solidFill>
                  <a:srgbClr val="0057B8"/>
                </a:solidFill>
              </a:rPr>
              <a:t>TRADE TICKET</a:t>
            </a:r>
          </a:p>
        </p:txBody>
      </p:sp>
    </p:spTree>
    <p:extLst>
      <p:ext uri="{BB962C8B-B14F-4D97-AF65-F5344CB8AC3E}">
        <p14:creationId xmlns:p14="http://schemas.microsoft.com/office/powerpoint/2010/main" val="2755366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3-1">
            <a:extLst xmlns:a="http://schemas.openxmlformats.org/drawingml/2006/main">
              <a:ext uri="{FF2B5EF4-FFF2-40B4-BE49-F238E27FC236}">
                <a16:creationId xmlns:a16="http://schemas.microsoft.com/office/drawing/2014/main" id="{228AE8CF-9232-42CC-82C9-51EEA2FF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9233D"/>
                </a:solidFill>
                <a:latin typeface="Arial"/>
                <a:ea typeface="Arial"/>
                <a:cs typeface="Arial"/>
              </a:rPr>
              <a:t>Hedge for resilience,
</a:t>
            </a:r>
            <a:r>
              <a:rPr sz="600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not hindsight.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A812715-78C1-495C-B367-27095296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Verdict · partially correct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Current action · hedge 70%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Next check · roll monthly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4710305-B54A-4505-B7E2-964162F7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DECISION RULE</a:t>
            </a:r>
          </a:p>
        </p:txBody>
      </p:sp>
      <p:sp>
        <p:nvSpPr>
          <p:cNvPr id="4" name="endcap-navy">
            <a:extLst xmlns:a="http://schemas.openxmlformats.org/drawingml/2006/main">
              <a:ext uri="{FF2B5EF4-FFF2-40B4-BE49-F238E27FC236}">
                <a16:creationId xmlns:a16="http://schemas.microsoft.com/office/drawing/2014/main" id="{E2DF06F6-76C0-42E5-AEF2-A42BBF1F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ndcap-amber">
            <a:extLst xmlns:a="http://schemas.openxmlformats.org/drawingml/2006/main">
              <a:ext uri="{FF2B5EF4-FFF2-40B4-BE49-F238E27FC236}">
                <a16:creationId xmlns:a16="http://schemas.microsoft.com/office/drawing/2014/main" id="{908A7A34-6C68-4518-B9D6-D3E5DDAD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verdict-tag">
            <a:extLst xmlns:a="http://schemas.openxmlformats.org/drawingml/2006/main">
              <a:ext uri="{FF2B5EF4-FFF2-40B4-BE49-F238E27FC236}">
                <a16:creationId xmlns:a16="http://schemas.microsoft.com/office/drawing/2014/main" id="{C3A605EE-8733-455F-B308-467D78CF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41020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70%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HEDGED</a:t>
            </a:r>
          </a:p>
        </p:txBody>
      </p:sp>
    </p:spTree>
    <p:extLst>
      <p:ext uri="{BB962C8B-B14F-4D97-AF65-F5344CB8AC3E}">
        <p14:creationId xmlns:p14="http://schemas.microsoft.com/office/powerpoint/2010/main" val="11976956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2026-08-03T04:38:09.7570000Z</dcterms:created>
  <dcterms:modified xsi:type="dcterms:W3CDTF">2026-08-03T04:38:09.7570000Z</dcterms:modified>
</coreProperties>
</file>